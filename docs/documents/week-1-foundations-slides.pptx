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Plus Jakarta Sans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4db47c9b-4251-4014-9db9-cb948d4ef031.fntdata" /><ns0:Relationship Id="rIdFont19" Type="http://schemas.openxmlformats.org/officeDocument/2006/relationships/font" Target="fonts/e2a9b8d9-10f1-4856-9fad-84e074a4d71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778573"/>
            <a:ext cx="6096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041326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0B981"/>
                </a:solidFill>
                <a:latin typeface="Plus Jakarta Sans"/>
              </a:rPr>
              <a:t>PROFESSIONAL TRAINING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93751"/>
            <a:ext cx="9101137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Foundations: Ecosystems, Restoration and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48992"/>
            <a:ext cx="67627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CA3AF"/>
                </a:solidFill>
                <a:latin typeface="Plus Jakarta Sans"/>
              </a:rPr>
              <a:t>Module 1 to 3: Understanding Degradation, Restoration Principles, and Water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00337"/>
            <a:ext cx="3403550" cy="241935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700337"/>
            <a:ext cx="3403550" cy="241935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700337"/>
            <a:ext cx="3403550" cy="241935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700337"/>
            <a:ext cx="340355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94150" y="2700337"/>
            <a:ext cx="340355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26300" y="2700337"/>
            <a:ext cx="340355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081337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950" y="3081337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100" y="3081337"/>
            <a:ext cx="1714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COURSE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827"/>
                </a:solidFill>
                <a:latin typeface="Plus Jakarta Sans"/>
              </a:rPr>
              <a:t>Core Modules &amp; Assignments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481387"/>
            <a:ext cx="36670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827"/>
                </a:solidFill>
                <a:latin typeface="Plus Jakarta Sans"/>
              </a:rPr>
              <a:t>Module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795712"/>
            <a:ext cx="3492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Ecosystems &amp; Degradation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129087"/>
            <a:ext cx="288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B7280"/>
                </a:solidFill>
                <a:latin typeface="Plus Jakarta Sans"/>
              </a:rPr>
              <a:t>Landscapes, watersheds, biodiversity, soil, water, and recognizing landscape degradation signs.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8950" y="3481387"/>
            <a:ext cx="36670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827"/>
                </a:solidFill>
                <a:latin typeface="Plus Jakarta Sans"/>
              </a:rPr>
              <a:t>Module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8950" y="3795712"/>
            <a:ext cx="3492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Restoration Principles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8950" y="4129087"/>
            <a:ext cx="288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B7280"/>
                </a:solidFill>
                <a:latin typeface="Plus Jakarta Sans"/>
              </a:rPr>
              <a:t>Prevent, protect, manage, restore, monitor. Passive versus active restoration strategies.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1100" y="3481387"/>
            <a:ext cx="36670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827"/>
                </a:solidFill>
                <a:latin typeface="Plus Jakarta Sans"/>
              </a:rPr>
              <a:t>Module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1100" y="3795712"/>
            <a:ext cx="3492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74151"/>
                </a:solidFill>
                <a:latin typeface="Plus Jakarta Sans"/>
              </a:rPr>
              <a:t>Water Resources (IWRM)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1100" y="4129087"/>
            <a:ext cx="288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B7280"/>
                </a:solidFill>
                <a:latin typeface="Plus Jakarta Sans"/>
              </a:rPr>
              <a:t>Integrated water management, the water cycle, and slow-spread-store landscape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81300"/>
            <a:ext cx="5181600" cy="933450"/>
          </a:xfrm>
          <a:prstGeom prst="roundRect">
            <a:avLst>
              <a:gd name="adj" fmla="val 10204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905250"/>
            <a:ext cx="5181600" cy="1133475"/>
          </a:xfrm>
          <a:prstGeom prst="roundRect">
            <a:avLst>
              <a:gd name="adj" fmla="val 8403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781300"/>
            <a:ext cx="5181600" cy="1133475"/>
          </a:xfrm>
          <a:prstGeom prst="roundRect">
            <a:avLst>
              <a:gd name="adj" fmla="val 8403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105275"/>
            <a:ext cx="5181600" cy="933450"/>
          </a:xfrm>
          <a:prstGeom prst="roundRect">
            <a:avLst>
              <a:gd name="adj" fmla="val 10204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MODULE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827"/>
                </a:solidFill>
                <a:latin typeface="Plus Jakarta Sans"/>
              </a:rPr>
              <a:t>Ecosystems &amp; Landscape Interconnection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009900"/>
            <a:ext cx="62007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827"/>
                </a:solidFill>
                <a:latin typeface="Plus Jakarta Sans"/>
              </a:rPr>
              <a:t>Holistic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286125"/>
            <a:ext cx="5905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Interconnected webs of soil, vegetation, water, and livelihoods.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133850"/>
            <a:ext cx="62007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827"/>
                </a:solidFill>
                <a:latin typeface="Plus Jakarta Sans"/>
              </a:rPr>
              <a:t>Watersheds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410075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Hydrological boundaries defining land and water management units.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009900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827"/>
                </a:solidFill>
                <a:latin typeface="Plus Jakarta Sans"/>
              </a:rPr>
              <a:t>Biodiversity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3286125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Biological foundation ensuring ecosystem resilience and productivity.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4333875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827"/>
                </a:solidFill>
                <a:latin typeface="Plus Jakarta Sans"/>
              </a:rPr>
              <a:t>Human Livelihoods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4610100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Communities depend directly on healthy natural resource 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314700"/>
            <a:ext cx="2524125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6625" y="3314700"/>
            <a:ext cx="2524125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214687"/>
            <a:ext cx="2524125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05875" y="3314700"/>
            <a:ext cx="2524125" cy="1152525"/>
          </a:xfrm>
          <a:prstGeom prst="roundRect">
            <a:avLst>
              <a:gd name="adj" fmla="val 9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MODULE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827"/>
                </a:solidFill>
                <a:latin typeface="Plus Jakarta Sans"/>
              </a:rPr>
              <a:t>Five Categories of Ecosystem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543300"/>
            <a:ext cx="271283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59669"/>
                </a:solidFill>
                <a:latin typeface="Plus Jakarta Sans"/>
              </a:rPr>
              <a:t>Provisioning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838575"/>
            <a:ext cx="21621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Food, water, timber, and fiber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5225" y="3543300"/>
            <a:ext cx="271283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59669"/>
                </a:solidFill>
                <a:latin typeface="Plus Jakarta Sans"/>
              </a:rPr>
              <a:t>Regulating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5225" y="3838575"/>
            <a:ext cx="21621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Climate, flood, and water purification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850" y="3443287"/>
            <a:ext cx="271283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59669"/>
                </a:solidFill>
                <a:latin typeface="Plus Jakarta Sans"/>
              </a:rPr>
              <a:t>Supporting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850" y="3738562"/>
            <a:ext cx="21621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Soil formation, nutrient cycling, and primary production.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4475" y="3543300"/>
            <a:ext cx="271283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59669"/>
                </a:solidFill>
                <a:latin typeface="Plus Jakarta Sans"/>
              </a:rPr>
              <a:t>Cultural &amp; Social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4475" y="3838575"/>
            <a:ext cx="21621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Spiritual, recreational, and educational benefits.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91904"/>
            <a:ext cx="3403550" cy="1598116"/>
          </a:xfrm>
          <a:prstGeom prst="roundRect">
            <a:avLst>
              <a:gd name="adj" fmla="val 715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091904"/>
            <a:ext cx="3403550" cy="1598116"/>
          </a:xfrm>
          <a:prstGeom prst="roundRect">
            <a:avLst>
              <a:gd name="adj" fmla="val 715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228975"/>
            <a:ext cx="3403550" cy="1323975"/>
          </a:xfrm>
          <a:prstGeom prst="roundRect">
            <a:avLst>
              <a:gd name="adj" fmla="val 8633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827"/>
                </a:solidFill>
                <a:latin typeface="Plus Jakarta Sans"/>
              </a:rPr>
              <a:t>Recognizing Landscape Degradation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3358604"/>
            <a:ext cx="37670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827"/>
                </a:solidFill>
                <a:latin typeface="Plus Jakarta Sans"/>
              </a:rPr>
              <a:t>Soil &amp; Physical Signs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0850" y="3358604"/>
            <a:ext cx="37670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827"/>
                </a:solidFill>
                <a:latin typeface="Plus Jakarta Sans"/>
              </a:rPr>
              <a:t>Biological Signs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3000" y="3495675"/>
            <a:ext cx="37670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827"/>
                </a:solidFill>
                <a:latin typeface="Plus Jakarta Sans"/>
              </a:rPr>
              <a:t>Exercise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3000" y="3829050"/>
            <a:ext cx="2965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How has a landscape you know changed over the last 10–20 years?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475" y="3690074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3691979"/>
            <a:ext cx="334956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Severe erosion &amp; active gullies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475" y="3933854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3935759"/>
            <a:ext cx="334956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Soil crusting and compaction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475" y="4177635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179540"/>
            <a:ext cx="334956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Declining groundwater 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5625" y="3690074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1350" y="3691979"/>
            <a:ext cx="334956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Widespread vegetation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5625" y="3933854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1350" y="3935759"/>
            <a:ext cx="334956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Overgrazing impacts on cover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5625" y="4177635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1350" y="4179540"/>
            <a:ext cx="334956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Invasive species dominance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38487"/>
            <a:ext cx="1981200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33700" y="3138487"/>
            <a:ext cx="1981200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05400" y="3138487"/>
            <a:ext cx="1981200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77100" y="3138487"/>
            <a:ext cx="1981200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48800" y="3138487"/>
            <a:ext cx="1981200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3414712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950" y="3414712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650" y="3414712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4350" y="3414712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6050" y="3414712"/>
            <a:ext cx="2667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MODULE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827"/>
                </a:solidFill>
                <a:latin typeface="Plus Jakarta Sans"/>
              </a:rPr>
              <a:t>Ecosystem Restoration Core Principles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3814762"/>
            <a:ext cx="200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11827"/>
                </a:solidFill>
                <a:latin typeface="Plus Jakarta Sans"/>
              </a:rPr>
              <a:t>Prevent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090987"/>
            <a:ext cx="1905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B7280"/>
                </a:solidFill>
                <a:latin typeface="Plus Jakarta Sans"/>
              </a:rPr>
              <a:t>Stop degradation 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4175" y="3814762"/>
            <a:ext cx="200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11827"/>
                </a:solidFill>
                <a:latin typeface="Plus Jakarta Sans"/>
              </a:rPr>
              <a:t>Protect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090987"/>
            <a:ext cx="1905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B7280"/>
                </a:solidFill>
                <a:latin typeface="Plus Jakarta Sans"/>
              </a:rPr>
              <a:t>Safeguard remaining cover.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5875" y="3814762"/>
            <a:ext cx="200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11827"/>
                </a:solidFill>
                <a:latin typeface="Plus Jakarta Sans"/>
              </a:rPr>
              <a:t>Manage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3500" y="4090987"/>
            <a:ext cx="1905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B7280"/>
                </a:solidFill>
                <a:latin typeface="Plus Jakarta Sans"/>
              </a:rPr>
              <a:t>Sustainable use practices.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7575" y="3814762"/>
            <a:ext cx="200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11827"/>
                </a:solidFill>
                <a:latin typeface="Plus Jakarta Sans"/>
              </a:rPr>
              <a:t>Restore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090987"/>
            <a:ext cx="1905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B7280"/>
                </a:solidFill>
                <a:latin typeface="Plus Jakarta Sans"/>
              </a:rPr>
              <a:t>Active ecological recovery.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9275" y="3814762"/>
            <a:ext cx="200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11827"/>
                </a:solidFill>
                <a:latin typeface="Plus Jakarta Sans"/>
              </a:rPr>
              <a:t>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6900" y="4090987"/>
            <a:ext cx="1905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B7280"/>
                </a:solidFill>
                <a:latin typeface="Plus Jakarta Sans"/>
              </a:rPr>
              <a:t>Track long-term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63329"/>
            <a:ext cx="5181600" cy="1693366"/>
          </a:xfrm>
          <a:prstGeom prst="roundRect">
            <a:avLst>
              <a:gd name="adj" fmla="val 6749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63329"/>
            <a:ext cx="5181600" cy="1693366"/>
          </a:xfrm>
          <a:prstGeom prst="roundRect">
            <a:avLst>
              <a:gd name="adj" fmla="val 6749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827"/>
                </a:solidFill>
                <a:latin typeface="Plus Jakarta Sans"/>
              </a:rPr>
              <a:t>Passive vs. Active Restoration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368129"/>
            <a:ext cx="60007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827"/>
                </a:solidFill>
                <a:latin typeface="Plus Jakarta Sans"/>
              </a:rPr>
              <a:t>Passive Restoration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3368129"/>
            <a:ext cx="56388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827"/>
                </a:solidFill>
                <a:latin typeface="Plus Jakarta Sans"/>
              </a:rPr>
              <a:t>Active Restoration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1575" y="3718649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3720554"/>
            <a:ext cx="5476875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Remove degrading pressures (e.g., livestock exclusion)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575" y="3962429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300" y="3964334"/>
            <a:ext cx="5476875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Rely on natural regeneration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4206210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300" y="4208115"/>
            <a:ext cx="5476875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Cost-effective for large areas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7975" y="3718649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3700" y="3720554"/>
            <a:ext cx="5448300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Direct tree planting and seeding interventions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7975" y="3962429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700" y="3964334"/>
            <a:ext cx="5448300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Engineering structures (check dams for gullies)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7975" y="4206210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3700" y="4208115"/>
            <a:ext cx="5448300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Required when natural seed banks are lost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33725"/>
            <a:ext cx="3403550" cy="1552575"/>
          </a:xfrm>
          <a:prstGeom prst="roundRect">
            <a:avLst>
              <a:gd name="adj" fmla="val 736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155156"/>
            <a:ext cx="3403550" cy="1509712"/>
          </a:xfrm>
          <a:prstGeom prst="roundRect">
            <a:avLst>
              <a:gd name="adj" fmla="val 75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248025"/>
            <a:ext cx="3403550" cy="1323975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827"/>
                </a:solidFill>
                <a:latin typeface="Plus Jakarta Sans"/>
              </a:rPr>
              <a:t>Integrated Water Resources Management (IWRM)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3400425"/>
            <a:ext cx="37670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827"/>
                </a:solidFill>
                <a:latin typeface="Plus Jakarta Sans"/>
              </a:rPr>
              <a:t>Integrated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733800"/>
            <a:ext cx="2965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Managing water together with land, livestock, forests, settlements, and ecosystems.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0850" y="3421856"/>
            <a:ext cx="37670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827"/>
                </a:solidFill>
                <a:latin typeface="Plus Jakarta Sans"/>
              </a:rPr>
              <a:t>Core IWRM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3000" y="3514725"/>
            <a:ext cx="376707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827"/>
                </a:solidFill>
                <a:latin typeface="Plus Jakarta Sans"/>
              </a:rPr>
              <a:t>The Water 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3000" y="3848100"/>
            <a:ext cx="2965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Rainfall, runoff, infiltration, groundwater recharge, evaporation, and storage.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5150" y="3752850"/>
            <a:ext cx="7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B5563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1350" y="3755231"/>
            <a:ext cx="3349562" cy="214312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B5563"/>
                </a:solidFill>
                <a:latin typeface="Plus Jakarta Sans"/>
              </a:rPr>
              <a:t>Where does water originate?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5150" y="3967162"/>
            <a:ext cx="7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B5563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1350" y="3969543"/>
            <a:ext cx="3349562" cy="214312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B5563"/>
                </a:solidFill>
                <a:latin typeface="Plus Jakarta Sans"/>
              </a:rPr>
              <a:t>Who uses the water?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5150" y="4181475"/>
            <a:ext cx="7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B5563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1350" y="4183856"/>
            <a:ext cx="3349562" cy="214312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B5563"/>
                </a:solidFill>
                <a:latin typeface="Plus Jakarta Sans"/>
              </a:rPr>
              <a:t>Upstream &amp; downstream impacts?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00375"/>
            <a:ext cx="3403550" cy="1819275"/>
          </a:xfrm>
          <a:prstGeom prst="roundRect">
            <a:avLst>
              <a:gd name="adj" fmla="val 628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000375"/>
            <a:ext cx="3403550" cy="1819275"/>
          </a:xfrm>
          <a:prstGeom prst="roundRect">
            <a:avLst>
              <a:gd name="adj" fmla="val 628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000375"/>
            <a:ext cx="3403550" cy="1819275"/>
          </a:xfrm>
          <a:prstGeom prst="roundRect">
            <a:avLst>
              <a:gd name="adj" fmla="val 6282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400" y="3352800"/>
            <a:ext cx="2286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401" y="3352800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6551" y="3352800"/>
            <a:ext cx="3429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MODULE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827"/>
                </a:solidFill>
                <a:latin typeface="Plus Jakarta Sans"/>
              </a:rPr>
              <a:t>Managing Water in the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245" y="3800475"/>
            <a:ext cx="36670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11827"/>
                </a:solidFill>
                <a:latin typeface="Plus Jakarta Sans"/>
              </a:rPr>
              <a:t>Slow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556" y="4114800"/>
            <a:ext cx="34924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B5563"/>
                </a:solidFill>
                <a:latin typeface="Plus Jakarta Sans"/>
              </a:rPr>
              <a:t>Reduce runoff velocity to prevent soil erosion.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2395" y="3800475"/>
            <a:ext cx="36670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11827"/>
                </a:solidFill>
                <a:latin typeface="Plus Jakarta Sans"/>
              </a:rPr>
              <a:t>Spread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706" y="4114800"/>
            <a:ext cx="34924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B5563"/>
                </a:solidFill>
                <a:latin typeface="Plus Jakarta Sans"/>
              </a:rPr>
              <a:t>Distribute water evenly across productive areas.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4546" y="3800475"/>
            <a:ext cx="36670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11827"/>
                </a:solidFill>
                <a:latin typeface="Plus Jakarta Sans"/>
              </a:rPr>
              <a:t>Store &amp;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1856" y="4114800"/>
            <a:ext cx="34924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B5563"/>
                </a:solidFill>
                <a:latin typeface="Plus Jakarta Sans"/>
              </a:rPr>
              <a:t>Recharge aquifers and safely use stored water.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478583"/>
            <a:ext cx="10668000" cy="2862857"/>
          </a:xfrm>
          <a:prstGeom prst="roundRect">
            <a:avLst>
              <a:gd name="adj" fmla="val 39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2478583"/>
            <a:ext cx="57150" cy="2862857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FIELD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827"/>
                </a:solidFill>
                <a:latin typeface="Plus Jakarta Sans"/>
              </a:rPr>
              <a:t>Assignment 1 – Spot Degradation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150" y="2859583"/>
            <a:ext cx="109918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827"/>
                </a:solidFill>
                <a:latin typeface="Plus Jakarta Sans"/>
              </a:rPr>
              <a:t>Field Task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150" y="3278683"/>
            <a:ext cx="109918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B5563"/>
                </a:solidFill>
                <a:latin typeface="Plus Jakarta Sans"/>
              </a:rPr>
              <a:t>Photograph three distinct signs of landscape degradation in your local area and prepare a brief explanation: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728263"/>
            <a:ext cx="95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0650" y="3726358"/>
            <a:ext cx="10801350" cy="30852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1" sz="1350" i="0" u="none">
                <a:solidFill>
                  <a:srgbClr val="374151"/>
                </a:solidFill>
                <a:latin typeface="Plus Jakarta Sans"/>
              </a:rPr>
              <a:t>Sign 1: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Soil erosion or bare soil patches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4036784"/>
            <a:ext cx="95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0650" y="4034879"/>
            <a:ext cx="10801350" cy="30852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1" sz="1350" i="0" u="none">
                <a:solidFill>
                  <a:srgbClr val="374151"/>
                </a:solidFill>
                <a:latin typeface="Plus Jakarta Sans"/>
              </a:rPr>
              <a:t>Sign 2: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Active gully formation or stream bank collapse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4345305"/>
            <a:ext cx="95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0650" y="4343400"/>
            <a:ext cx="10801350" cy="30852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1" sz="1350" i="0" u="none">
                <a:solidFill>
                  <a:srgbClr val="374151"/>
                </a:solidFill>
                <a:latin typeface="Plus Jakarta Sans"/>
              </a:rPr>
              <a:t>Sign 3: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Degraded vegetation or invasive species dominance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4653825"/>
            <a:ext cx="95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4151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0650" y="4651920"/>
            <a:ext cx="10801350" cy="30852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1" sz="1350" i="0" u="none">
                <a:solidFill>
                  <a:srgbClr val="374151"/>
                </a:solidFill>
                <a:latin typeface="Plus Jakarta Sans"/>
              </a:rPr>
              <a:t>Analysis:</a:t>
            </a:r>
            <a:r>
              <a:rPr b="0" sz="1350" i="0" u="none">
                <a:solidFill>
                  <a:srgbClr val="374151"/>
                </a:solidFill>
                <a:latin typeface="Plus Jakarta Sans"/>
              </a:rPr>
              <a:t> Explain the probable root causes for each observed 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67400" y="4214812"/>
            <a:ext cx="4572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651819" y="2605087"/>
            <a:ext cx="688836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338512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CA3AF"/>
                </a:solidFill>
                <a:latin typeface="Plus Jakarta Sans"/>
              </a:rPr>
              <a:t>Ready to begin field observations and watershed mapping exercises.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